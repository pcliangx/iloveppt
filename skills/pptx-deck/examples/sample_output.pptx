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23160"/>
            <a:ext cx="1118585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iLovePPT v2 演示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794760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E6F0FC"/>
                </a:solidFill>
                <a:latin typeface="Microsoft YaHei"/>
                <a:ea typeface="Microsoft YaHei"/>
                <a:cs typeface="Microsoft YaHei"/>
              </a:rPr>
              <a:t>deck_plan 驱动的机械构建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48640"/>
            <a:ext cx="1115568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4000" b="1" i="0">
                <a:solidFill>
                  <a:srgbClr val="0B2A4A"/>
                </a:solidFill>
                <a:latin typeface="Microsoft YaHei"/>
                <a:ea typeface="Microsoft YaHei"/>
                <a:cs typeface="Microsoft YaHei"/>
              </a:rP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80160"/>
            <a:ext cx="640080" cy="1584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600" b="1" i="0">
                <a:solidFill>
                  <a:srgbClr val="1E6FE0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1280160"/>
            <a:ext cx="10362895" cy="1584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0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048000"/>
            <a:ext cx="640080" cy="1584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600" b="1" i="0">
                <a:solidFill>
                  <a:srgbClr val="1E6FE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3048000"/>
            <a:ext cx="10362895" cy="1584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0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815840"/>
            <a:ext cx="640080" cy="1584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600" b="1" i="0">
                <a:solidFill>
                  <a:srgbClr val="1E6FE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4815840"/>
            <a:ext cx="10362895" cy="1584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0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效果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00800"/>
            <a:ext cx="11185855" cy="63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59975" y="6492240"/>
            <a:ext cx="1828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C8C8C"/>
                </a:solidFill>
                <a:latin typeface="Helvetica Neue"/>
                <a:ea typeface="Helvetica Neue"/>
                <a:cs typeface="Helvetica Neue"/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697480"/>
            <a:ext cx="1463040" cy="146304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697480"/>
            <a:ext cx="1463040" cy="146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23160" y="2697480"/>
            <a:ext cx="9265615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0B2A4A"/>
                </a:solidFill>
                <a:latin typeface="Microsoft YaHei"/>
                <a:ea typeface="Microsoft YaHei"/>
                <a:cs typeface="Microsoft YaHei"/>
              </a:rPr>
              <a:t>背景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48640"/>
            <a:ext cx="1115568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00" b="1" i="0">
                <a:solidFill>
                  <a:srgbClr val="0B2A4A"/>
                </a:solidFill>
                <a:latin typeface="Microsoft YaHei"/>
                <a:ea typeface="Microsoft YaHei"/>
                <a:cs typeface="Microsoft YaHei"/>
              </a:rPr>
              <a:t>三个痛点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398520"/>
            <a:ext cx="11185855" cy="883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5000"/>
              </a:lnSpc>
            </a:pPr>
            <a:r>
              <a:rPr sz="1600" b="1" i="0">
                <a:solidFill>
                  <a:srgbClr val="1E6FE0"/>
                </a:solidFill>
                <a:latin typeface="Microsoft YaHei"/>
                <a:ea typeface="Microsoft YaHei"/>
                <a:cs typeface="Microsoft YaHei"/>
              </a:rPr>
              <a:t>▎ </a:t>
            </a:r>
            <a:r>
              <a:rPr sz="16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文字墙</a:t>
            </a:r>
          </a:p>
          <a:p>
            <a:pPr>
              <a:lnSpc>
                <a:spcPct val="145000"/>
              </a:lnSpc>
            </a:pPr>
            <a:r>
              <a:rPr sz="1600" b="1" i="0">
                <a:solidFill>
                  <a:srgbClr val="1E6FE0"/>
                </a:solidFill>
                <a:latin typeface="Microsoft YaHei"/>
                <a:ea typeface="Microsoft YaHei"/>
                <a:cs typeface="Microsoft YaHei"/>
              </a:rPr>
              <a:t>▎ </a:t>
            </a:r>
            <a:r>
              <a:rPr sz="16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留白多</a:t>
            </a:r>
          </a:p>
          <a:p>
            <a:pPr>
              <a:lnSpc>
                <a:spcPct val="145000"/>
              </a:lnSpc>
            </a:pPr>
            <a:r>
              <a:rPr sz="1600" b="1" i="0">
                <a:solidFill>
                  <a:srgbClr val="1E6FE0"/>
                </a:solidFill>
                <a:latin typeface="Microsoft YaHei"/>
                <a:ea typeface="Microsoft YaHei"/>
                <a:cs typeface="Microsoft YaHei"/>
              </a:rPr>
              <a:t>▎ </a:t>
            </a:r>
            <a:r>
              <a:rPr sz="16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改动散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00800"/>
            <a:ext cx="11185855" cy="63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59975" y="6492240"/>
            <a:ext cx="1828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C8C8C"/>
                </a:solidFill>
                <a:latin typeface="Helvetica Neue"/>
                <a:ea typeface="Helvetica Neue"/>
                <a:cs typeface="Helvetica Neue"/>
              </a:rPr>
              <a:t>2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48640"/>
            <a:ext cx="1115568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00" b="1" i="0">
                <a:solidFill>
                  <a:srgbClr val="0B2A4A"/>
                </a:solidFill>
                <a:latin typeface="Microsoft YaHei"/>
                <a:ea typeface="Microsoft YaHei"/>
                <a:cs typeface="Microsoft YaHei"/>
              </a:rPr>
              <a:t>三大改进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2286000"/>
            <a:ext cx="3545738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286000"/>
            <a:ext cx="36576" cy="3108960"/>
          </a:xfrm>
          <a:prstGeom prst="roundRect">
            <a:avLst>
              <a:gd name="adj" fmla="val 5000"/>
            </a:avLst>
          </a:prstGeom>
          <a:solidFill>
            <a:srgbClr val="1E6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514600"/>
            <a:ext cx="299709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B2A4A"/>
                </a:solidFill>
                <a:latin typeface="Microsoft YaHei"/>
                <a:ea typeface="Microsoft YaHei"/>
                <a:cs typeface="Microsoft YaHei"/>
              </a:rPr>
              <a:t>接缝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108960"/>
            <a:ext cx="299709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deck_plan.json 隔开机械与智能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2978" y="2286000"/>
            <a:ext cx="3545738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22978" y="2286000"/>
            <a:ext cx="36576" cy="3108960"/>
          </a:xfrm>
          <a:prstGeom prst="roundRect">
            <a:avLst>
              <a:gd name="adj" fmla="val 5000"/>
            </a:avLst>
          </a:prstGeom>
          <a:solidFill>
            <a:srgbClr val="1E6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7298" y="2514600"/>
            <a:ext cx="299709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B2A4A"/>
                </a:solidFill>
                <a:latin typeface="Microsoft YaHei"/>
                <a:ea typeface="Microsoft YaHei"/>
                <a:cs typeface="Microsoft YaHei"/>
              </a:rPr>
              <a:t>原语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7298" y="3108960"/>
            <a:ext cx="299709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layout.py 几何原语,数量灵活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43036" y="2286000"/>
            <a:ext cx="3545738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43036" y="2286000"/>
            <a:ext cx="36576" cy="3108960"/>
          </a:xfrm>
          <a:prstGeom prst="roundRect">
            <a:avLst>
              <a:gd name="adj" fmla="val 5000"/>
            </a:avLst>
          </a:prstGeom>
          <a:solidFill>
            <a:srgbClr val="1E6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7356" y="2514600"/>
            <a:ext cx="299709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B2A4A"/>
                </a:solidFill>
                <a:latin typeface="Microsoft YaHei"/>
                <a:ea typeface="Microsoft YaHei"/>
                <a:cs typeface="Microsoft YaHei"/>
              </a:rPr>
              <a:t>回归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7356" y="3108960"/>
            <a:ext cx="299709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evals 集守护质量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400800"/>
            <a:ext cx="11185855" cy="63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59975" y="6492240"/>
            <a:ext cx="1828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C8C8C"/>
                </a:solidFill>
                <a:latin typeface="Helvetica Neue"/>
                <a:ea typeface="Helvetica Neue"/>
                <a:cs typeface="Helvetica Neue"/>
              </a:rPr>
              <a:t>3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48640"/>
            <a:ext cx="1115568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00" b="1" i="0">
                <a:solidFill>
                  <a:srgbClr val="0B2A4A"/>
                </a:solidFill>
                <a:latin typeface="Microsoft YaHei"/>
                <a:ea typeface="Microsoft YaHei"/>
                <a:cs typeface="Microsoft YaHei"/>
              </a:rPr>
              <a:t>v1 vs v2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2286000"/>
            <a:ext cx="5455767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286000"/>
            <a:ext cx="36576" cy="3108960"/>
          </a:xfrm>
          <a:prstGeom prst="roundRect">
            <a:avLst>
              <a:gd name="adj" fmla="val 5000"/>
            </a:avLst>
          </a:prstGeom>
          <a:solidFill>
            <a:srgbClr val="1E6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514600"/>
            <a:ext cx="4907127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B2A4A"/>
                </a:solidFill>
                <a:latin typeface="Microsoft YaHei"/>
                <a:ea typeface="Microsoft YaHei"/>
                <a:cs typeface="Microsoft YaHei"/>
              </a:rPr>
              <a:t>v1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108960"/>
            <a:ext cx="4907127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骑墙,占位骨架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3007" y="2286000"/>
            <a:ext cx="5455767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33007" y="2286000"/>
            <a:ext cx="36576" cy="3108960"/>
          </a:xfrm>
          <a:prstGeom prst="roundRect">
            <a:avLst>
              <a:gd name="adj" fmla="val 5000"/>
            </a:avLst>
          </a:prstGeom>
          <a:solidFill>
            <a:srgbClr val="00D1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07327" y="2514600"/>
            <a:ext cx="4907127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B2A4A"/>
                </a:solidFill>
                <a:latin typeface="Microsoft YaHei"/>
                <a:ea typeface="Microsoft YaHei"/>
                <a:cs typeface="Microsoft YaHei"/>
              </a:rPr>
              <a:t>v2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07327" y="3108960"/>
            <a:ext cx="4907127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诚实,机械/智能分离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400800"/>
            <a:ext cx="11185855" cy="63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59975" y="6492240"/>
            <a:ext cx="1828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C8C8C"/>
                </a:solidFill>
                <a:latin typeface="Helvetica Neue"/>
                <a:ea typeface="Helvetica Neue"/>
                <a:cs typeface="Helvetica Neue"/>
              </a:rPr>
              <a:t>4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48640"/>
            <a:ext cx="1115568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200" b="1" i="0">
                <a:solidFill>
                  <a:srgbClr val="0B2A4A"/>
                </a:solidFill>
                <a:latin typeface="Microsoft YaHei"/>
                <a:ea typeface="Microsoft YaHei"/>
                <a:cs typeface="Microsoft YaHei"/>
              </a:rPr>
              <a:t>核心结论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280160"/>
            <a:ext cx="822960" cy="1584960"/>
          </a:xfrm>
          <a:prstGeom prst="rect">
            <a:avLst/>
          </a:prstGeom>
          <a:solidFill>
            <a:srgbClr val="1E6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0"/>
            <a:ext cx="822960" cy="1584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280160"/>
            <a:ext cx="10134295" cy="1584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接口诚实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3048000"/>
            <a:ext cx="822960" cy="1584960"/>
          </a:xfrm>
          <a:prstGeom prst="rect">
            <a:avLst/>
          </a:prstGeom>
          <a:solidFill>
            <a:srgbClr val="1E6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048000"/>
            <a:ext cx="822960" cy="1584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3048000"/>
            <a:ext cx="10134295" cy="1584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布局可组合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4815840"/>
            <a:ext cx="822960" cy="1584960"/>
          </a:xfrm>
          <a:prstGeom prst="rect">
            <a:avLst/>
          </a:prstGeom>
          <a:solidFill>
            <a:srgbClr val="1E6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4815840"/>
            <a:ext cx="822960" cy="1584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4815840"/>
            <a:ext cx="10134295" cy="1584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质量可回归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400800"/>
            <a:ext cx="11185855" cy="63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59975" y="6492240"/>
            <a:ext cx="1828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C8C8C"/>
                </a:solidFill>
                <a:latin typeface="Helvetica Neue"/>
                <a:ea typeface="Helvetica Neue"/>
                <a:cs typeface="Helvetica Neue"/>
              </a:rPr>
              <a:t>5 / 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31720"/>
            <a:ext cx="1118585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谢谢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977640"/>
            <a:ext cx="111858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E6F0FC"/>
                </a:solidFill>
                <a:latin typeface="Microsoft YaHei"/>
                <a:ea typeface="Microsoft YaHei"/>
                <a:cs typeface="Microsoft YaHei"/>
              </a:rPr>
              <a:t>github.com/pcliangx/iLovePPT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