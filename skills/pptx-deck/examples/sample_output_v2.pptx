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0"/>
            <a:ext cx="111858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iLovePPT 视觉规范升级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0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6F0FC"/>
                </a:solidFill>
                <a:latin typeface="Microsoft YaHei"/>
                <a:ea typeface="Microsoft YaHei"/>
                <a:cs typeface="Microsoft YaHei"/>
              </a:rPr>
              <a:t>对标 BCG/McKinsey 后的 17 项改进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2775" y="274320"/>
            <a:ext cx="2286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6F0FC"/>
                </a:solidFill>
                <a:latin typeface="Microsoft YaHei"/>
                <a:ea typeface="Microsoft YaHei"/>
                <a:cs typeface="Microsoft YaHei"/>
              </a:rPr>
              <a:t>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11858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6F0FC"/>
                </a:solidFill>
                <a:latin typeface="Microsoft YaHei"/>
                <a:ea typeface="Microsoft YaHei"/>
                <a:cs typeface="Microsoft YaHei"/>
              </a:rPr>
              <a:t>技术部 · 2026-05-23 · v2.0 · ILVPPT-17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2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64008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 i="0">
                <a:solidFill>
                  <a:srgbClr val="0A52B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280160"/>
            <a:ext cx="103628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改了什么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48000"/>
            <a:ext cx="64008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 i="0">
                <a:solidFill>
                  <a:srgbClr val="0A52B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048000"/>
            <a:ext cx="103628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为什么改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15840"/>
            <a:ext cx="64008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 i="0">
                <a:solidFill>
                  <a:srgbClr val="0A52B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4815840"/>
            <a:ext cx="103628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00800"/>
            <a:ext cx="11185855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6F6F"/>
                </a:solidFill>
                <a:latin typeface="Helvetica Neue"/>
                <a:ea typeface="Helvetica Neue"/>
                <a:cs typeface="Helvetica Neue"/>
              </a:rPr>
              <a:t>1 /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908273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INTERNAL · iLovePPT v2 演示 · v2.0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697480"/>
            <a:ext cx="1463040" cy="14630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97480"/>
            <a:ext cx="1463040" cy="146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2697480"/>
            <a:ext cx="926561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改了什么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31720"/>
            <a:ext cx="1118585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0" b="1" i="0">
                <a:solidFill>
                  <a:srgbClr val="0A52BF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977640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17 项改进上线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9204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字号 / 配色 / 字段 / 视觉 QA 全面对标 MBB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85855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6F6F"/>
                </a:solidFill>
                <a:latin typeface="Helvetica Neue"/>
                <a:ea typeface="Helvetica Neue"/>
                <a:cs typeface="Helvetica Neue"/>
              </a:rPr>
              <a:t>2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08273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INTERNAL · iLovePPT v2 演示 · v2.0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三大轴线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286000"/>
            <a:ext cx="354573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286000"/>
            <a:ext cx="36576" cy="3108960"/>
          </a:xfrm>
          <a:prstGeom prst="roundRect">
            <a:avLst>
              <a:gd name="adj" fmla="val 5000"/>
            </a:avLst>
          </a:prstGeom>
          <a:solidFill>
            <a:srgbClr val="0A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299709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字号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299709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body 14→18pt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2286000"/>
            <a:ext cx="354573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22978" y="2286000"/>
            <a:ext cx="36576" cy="3108960"/>
          </a:xfrm>
          <a:prstGeom prst="roundRect">
            <a:avLst>
              <a:gd name="adj" fmla="val 5000"/>
            </a:avLst>
          </a:prstGeom>
          <a:solidFill>
            <a:srgbClr val="0A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7298" y="2514600"/>
            <a:ext cx="299709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配色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298" y="3200400"/>
            <a:ext cx="299709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primary AAA 7:1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3036" y="2286000"/>
            <a:ext cx="354573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43036" y="2286000"/>
            <a:ext cx="36576" cy="3108960"/>
          </a:xfrm>
          <a:prstGeom prst="roundRect">
            <a:avLst>
              <a:gd name="adj" fmla="val 5000"/>
            </a:avLst>
          </a:prstGeom>
          <a:solidFill>
            <a:srgbClr val="0A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7356" y="2514600"/>
            <a:ext cx="299709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7356" y="3200400"/>
            <a:ext cx="299709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source/meta 补全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00800"/>
            <a:ext cx="11185855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6F6F"/>
                </a:solidFill>
                <a:latin typeface="Helvetica Neue"/>
                <a:ea typeface="Helvetica Neue"/>
                <a:cs typeface="Helvetica Neue"/>
              </a:rPr>
              <a:t>3 /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908273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INTERNAL · iLovePPT v2 演示 · v2.0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字号对比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80160"/>
          <a:ext cx="11185855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元素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body</a:t>
                      </a:r>
                    </a:p>
                  </a:txBody>
                  <a:tcPr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14pt</a:t>
                      </a:r>
                    </a:p>
                  </a:txBody>
                  <a:tcPr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18pt</a:t>
                      </a:r>
                    </a:p>
                  </a:txBody>
                  <a:tcPr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BCG min</a:t>
                      </a:r>
                    </a:p>
                  </a:txBody>
                  <a:tcPr>
                    <a:solidFill>
                      <a:srgbClr val="E6F0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page标题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MBB std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页脚</a:t>
                      </a:r>
                    </a:p>
                  </a:txBody>
                  <a:tcPr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9pt</a:t>
                      </a:r>
                    </a:p>
                  </a:txBody>
                  <a:tcPr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9pt</a:t>
                      </a:r>
                    </a:p>
                  </a:txBody>
                  <a:tcPr>
                    <a:solidFill>
                      <a:srgbClr val="E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</a:t>
                      </a:r>
                    </a:p>
                  </a:txBody>
                  <a:tcPr>
                    <a:solidFill>
                      <a:srgbClr val="E6F0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126480"/>
            <a:ext cx="1118585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Source: BCG/McKinsey 公开规范 2024-2025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0"/>
            <a:ext cx="11185855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6F6F"/>
                </a:solidFill>
                <a:latin typeface="Helvetica Neue"/>
                <a:ea typeface="Helvetica Neue"/>
                <a:cs typeface="Helvetica Neue"/>
              </a:rPr>
              <a:t>4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08273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INTERNAL · iLovePPT v2 演示 · v2.0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697480"/>
            <a:ext cx="1463040" cy="14630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697480"/>
            <a:ext cx="1463040" cy="146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3160" y="2697480"/>
            <a:ext cx="926561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为什么改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三个动机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343275"/>
            <a:ext cx="11185855" cy="9944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800" b="1" i="0">
                <a:solidFill>
                  <a:srgbClr val="0A52BF"/>
                </a:solidFill>
                <a:latin typeface="Microsoft YaHei"/>
                <a:ea typeface="Microsoft YaHei"/>
                <a:cs typeface="Microsoft YaHei"/>
              </a:rPr>
              <a:t>▎ </a:t>
            </a:r>
            <a:r>
              <a:rPr sz="18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对标 MBB</a:t>
            </a:r>
          </a:p>
          <a:p>
            <a:pPr>
              <a:lnSpc>
                <a:spcPct val="145000"/>
              </a:lnSpc>
            </a:pPr>
            <a:r>
              <a:rPr sz="1800" b="1" i="0">
                <a:solidFill>
                  <a:srgbClr val="0A52BF"/>
                </a:solidFill>
                <a:latin typeface="Microsoft YaHei"/>
                <a:ea typeface="Microsoft YaHei"/>
                <a:cs typeface="Microsoft YaHei"/>
              </a:rPr>
              <a:t>▎ </a:t>
            </a:r>
            <a:r>
              <a:rPr sz="18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提升可读</a:t>
            </a:r>
          </a:p>
          <a:p>
            <a:pPr>
              <a:lnSpc>
                <a:spcPct val="145000"/>
              </a:lnSpc>
            </a:pPr>
            <a:r>
              <a:rPr sz="1800" b="1" i="0">
                <a:solidFill>
                  <a:srgbClr val="0A52BF"/>
                </a:solidFill>
                <a:latin typeface="Microsoft YaHei"/>
                <a:ea typeface="Microsoft YaHei"/>
                <a:cs typeface="Microsoft YaHei"/>
              </a:rPr>
              <a:t>▎ </a:t>
            </a:r>
            <a:r>
              <a:rPr sz="18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加合规字段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00800"/>
            <a:ext cx="11185855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6F6F"/>
                </a:solidFill>
                <a:latin typeface="Helvetica Neue"/>
                <a:ea typeface="Helvetica Neue"/>
                <a:cs typeface="Helvetica Neue"/>
              </a:rPr>
              <a:t>5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908273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INTERNAL · iLovePPT v2 演示 · v2.0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80160"/>
            <a:ext cx="822960" cy="1584960"/>
          </a:xfrm>
          <a:prstGeom prst="rect">
            <a:avLst/>
          </a:prstGeom>
          <a:solidFill>
            <a:srgbClr val="0A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82296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101342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body 涨 30%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048000"/>
            <a:ext cx="822960" cy="1584960"/>
          </a:xfrm>
          <a:prstGeom prst="rect">
            <a:avLst/>
          </a:prstGeom>
          <a:solidFill>
            <a:srgbClr val="0A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048000"/>
            <a:ext cx="82296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048000"/>
            <a:ext cx="101342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primary AAA 7:1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815840"/>
            <a:ext cx="822960" cy="1584960"/>
          </a:xfrm>
          <a:prstGeom prst="rect">
            <a:avLst/>
          </a:prstGeom>
          <a:solidFill>
            <a:srgbClr val="0A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815840"/>
            <a:ext cx="82296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815840"/>
            <a:ext cx="101342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加 5 字段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00800"/>
            <a:ext cx="11185855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6F6F"/>
                </a:solidFill>
                <a:latin typeface="Helvetica Neue"/>
                <a:ea typeface="Helvetica Neue"/>
                <a:cs typeface="Helvetica Neue"/>
              </a:rPr>
              <a:t>6 /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908273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INTERNAL · iLovePPT v2 演示 · v2.0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5486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7A6D"/>
                </a:solidFill>
                <a:latin typeface="Helvetica Neue"/>
                <a:ea typeface="Helvetica Neue"/>
                <a:cs typeface="Helvetica Neue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59149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完成视觉 QA 抽检    [Alice · 2026-05-30]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5486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7A6D"/>
                </a:solidFill>
                <a:latin typeface="Helvetica Neue"/>
                <a:ea typeface="Helvetica Neue"/>
                <a:cs typeface="Helvetica Neue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9149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撰写 changelog 推送团队    [Bob · 2026-06-01]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08960"/>
            <a:ext cx="5486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7A6D"/>
                </a:solidFill>
                <a:latin typeface="Helvetica Neue"/>
                <a:ea typeface="Helvetica Neue"/>
                <a:cs typeface="Helvetica Neue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591495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评估 v3 路线(grid / 色盲 / 打印)    [Carol · 2026-06-15]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17920"/>
            <a:ext cx="1118585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F0FC"/>
                </a:solidFill>
                <a:latin typeface="Microsoft YaHei"/>
                <a:ea typeface="Microsoft YaHei"/>
                <a:cs typeface="Microsoft YaHei"/>
              </a:rPr>
              <a:t>Q&amp;A · contact@example.com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